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76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ql%20Question%20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ql%20Question%203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ql%20Question%203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ql%20Question%204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DELL\Documents\Sql%20question%205A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398216463226873"/>
          <c:y val="0.25525007542941808"/>
          <c:w val="0.80514391951006126"/>
          <c:h val="0.5488950860309127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'Sql Question 1'!$B$1</c:f>
              <c:strCache>
                <c:ptCount val="1"/>
                <c:pt idx="0">
                  <c:v>ad_clicks</c:v>
                </c:pt>
              </c:strCache>
            </c:strRef>
          </c:tx>
          <c:spPr>
            <a:solidFill>
              <a:srgbClr val="00B0F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strRef>
              <c:f>'Sql Question 1'!$A$2:$A$3</c:f>
              <c:strCache>
                <c:ptCount val="2"/>
                <c:pt idx="0">
                  <c:v>Meesho</c:v>
                </c:pt>
                <c:pt idx="1">
                  <c:v>Bewakoof</c:v>
                </c:pt>
              </c:strCache>
            </c:strRef>
          </c:cat>
          <c:val>
            <c:numRef>
              <c:f>'Sql Question 1'!$B$2:$B$3</c:f>
              <c:numCache>
                <c:formatCode>General</c:formatCode>
                <c:ptCount val="2"/>
                <c:pt idx="0">
                  <c:v>1187</c:v>
                </c:pt>
                <c:pt idx="1">
                  <c:v>1200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984-409D-9E8A-A1E73729AFEC}"/>
            </c:ext>
          </c:extLst>
        </c:ser>
        <c:ser>
          <c:idx val="1"/>
          <c:order val="1"/>
          <c:tx>
            <c:strRef>
              <c:f>'Sql Question 1'!$C$1</c:f>
              <c:strCache>
                <c:ptCount val="1"/>
                <c:pt idx="0">
                  <c:v>conversions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'Sql Question 1'!$A$2:$A$3</c:f>
              <c:strCache>
                <c:ptCount val="2"/>
                <c:pt idx="0">
                  <c:v>Meesho</c:v>
                </c:pt>
                <c:pt idx="1">
                  <c:v>Bewakoof</c:v>
                </c:pt>
              </c:strCache>
            </c:strRef>
          </c:cat>
          <c:val>
            <c:numRef>
              <c:f>'Sql Question 1'!$C$2:$C$3</c:f>
              <c:numCache>
                <c:formatCode>General</c:formatCode>
                <c:ptCount val="2"/>
                <c:pt idx="0">
                  <c:v>580</c:v>
                </c:pt>
                <c:pt idx="1">
                  <c:v>587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984-409D-9E8A-A1E73729AF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029711567"/>
        <c:axId val="1029705327"/>
      </c:barChart>
      <c:lineChart>
        <c:grouping val="standard"/>
        <c:varyColors val="0"/>
        <c:ser>
          <c:idx val="2"/>
          <c:order val="2"/>
          <c:tx>
            <c:strRef>
              <c:f>'Sql Question 1'!$D$1</c:f>
              <c:strCache>
                <c:ptCount val="1"/>
                <c:pt idx="0">
                  <c:v>conversion_rate</c:v>
                </c:pt>
              </c:strCache>
            </c:strRef>
          </c:tx>
          <c:spPr>
            <a:ln w="603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'Sql Question 1'!$A$2:$A$3</c:f>
              <c:strCache>
                <c:ptCount val="2"/>
                <c:pt idx="0">
                  <c:v>Meesho</c:v>
                </c:pt>
                <c:pt idx="1">
                  <c:v>Bewakoof</c:v>
                </c:pt>
              </c:strCache>
            </c:strRef>
          </c:cat>
          <c:val>
            <c:numRef>
              <c:f>'Sql Question 1'!$D$2:$D$3</c:f>
              <c:numCache>
                <c:formatCode>General</c:formatCode>
                <c:ptCount val="2"/>
                <c:pt idx="0">
                  <c:v>48.86</c:v>
                </c:pt>
                <c:pt idx="1">
                  <c:v>48.92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984-409D-9E8A-A1E73729AFE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85351359"/>
        <c:axId val="1185348479"/>
      </c:lineChart>
      <c:catAx>
        <c:axId val="102971156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705327"/>
        <c:crosses val="autoZero"/>
        <c:auto val="1"/>
        <c:lblAlgn val="ctr"/>
        <c:lblOffset val="100"/>
        <c:noMultiLvlLbl val="0"/>
      </c:catAx>
      <c:valAx>
        <c:axId val="102970532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29711567"/>
        <c:crosses val="autoZero"/>
        <c:crossBetween val="between"/>
      </c:valAx>
      <c:valAx>
        <c:axId val="1185348479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5351359"/>
        <c:crosses val="max"/>
        <c:crossBetween val="between"/>
      </c:valAx>
      <c:catAx>
        <c:axId val="1185351359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85348479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Question 3.xlsx]Sheet1!PivotTable2</c:name>
    <c:fmtId val="12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i="0" u="none" strike="noStrike" baseline="0" dirty="0">
                <a:effectLst/>
                <a:latin typeface="Century Gothic" panose="020B0502020202020204" pitchFamily="34" charset="0"/>
              </a:rPr>
              <a:t>Customer segments converting without ads </a:t>
            </a:r>
          </a:p>
          <a:p>
            <a:pPr>
              <a:defRPr/>
            </a:pPr>
            <a:r>
              <a:rPr lang="en-US" sz="1600" b="1" i="0" u="none" strike="noStrike" baseline="0" dirty="0">
                <a:effectLst/>
                <a:latin typeface="Century Gothic" panose="020B0502020202020204" pitchFamily="34" charset="0"/>
              </a:rPr>
              <a:t>(</a:t>
            </a:r>
            <a:r>
              <a:rPr lang="en-US" sz="1600" b="0" i="0" u="none" strike="noStrike" baseline="0" dirty="0">
                <a:effectLst/>
                <a:latin typeface="Century Gothic" panose="020B0502020202020204" pitchFamily="34" charset="0"/>
              </a:rPr>
              <a:t>By Preferred Style</a:t>
            </a:r>
            <a:r>
              <a:rPr lang="en-US" sz="1600" b="1" i="0" u="none" strike="noStrike" baseline="0" dirty="0">
                <a:effectLst/>
                <a:latin typeface="Century Gothic" panose="020B0502020202020204" pitchFamily="34" charset="0"/>
              </a:rPr>
              <a:t>) </a:t>
            </a:r>
            <a:endParaRPr lang="en-US" sz="1600" b="1" dirty="0">
              <a:latin typeface="Century Gothic" panose="020B0502020202020204" pitchFamily="34" charset="0"/>
            </a:endParaRPr>
          </a:p>
        </c:rich>
      </c:tx>
      <c:layout>
        <c:manualLayout>
          <c:xMode val="edge"/>
          <c:yMode val="edge"/>
          <c:x val="7.8100289989234989E-2"/>
          <c:y val="2.529739377086536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9844458705750316E-2"/>
          <c:y val="0.24692932540841706"/>
          <c:w val="0.47426852868210168"/>
          <c:h val="0.5947035477671603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Sum of total_orders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Sheet1!$A$4:$A$9</c:f>
              <c:strCache>
                <c:ptCount val="6"/>
                <c:pt idx="0">
                  <c:v>Funky</c:v>
                </c:pt>
                <c:pt idx="1">
                  <c:v>Minimal</c:v>
                </c:pt>
                <c:pt idx="2">
                  <c:v>Athleisure</c:v>
                </c:pt>
                <c:pt idx="3">
                  <c:v>Trendy</c:v>
                </c:pt>
                <c:pt idx="4">
                  <c:v>Streetwear</c:v>
                </c:pt>
                <c:pt idx="5">
                  <c:v>Casual</c:v>
                </c:pt>
              </c:strCache>
            </c:strRef>
          </c:cat>
          <c:val>
            <c:numRef>
              <c:f>Sheet1!$B$4:$B$9</c:f>
              <c:numCache>
                <c:formatCode>General</c:formatCode>
                <c:ptCount val="6"/>
                <c:pt idx="0">
                  <c:v>480</c:v>
                </c:pt>
                <c:pt idx="1">
                  <c:v>501</c:v>
                </c:pt>
                <c:pt idx="2">
                  <c:v>521</c:v>
                </c:pt>
                <c:pt idx="3">
                  <c:v>547</c:v>
                </c:pt>
                <c:pt idx="4">
                  <c:v>461</c:v>
                </c:pt>
                <c:pt idx="5">
                  <c:v>470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823-47E1-B89C-62CE9E99FFE9}"/>
            </c:ext>
          </c:extLst>
        </c:ser>
        <c:ser>
          <c:idx val="1"/>
          <c:order val="1"/>
          <c:tx>
            <c:strRef>
              <c:f>Sheet1!$C$3</c:f>
              <c:strCache>
                <c:ptCount val="1"/>
                <c:pt idx="0">
                  <c:v>Sum of delivered_orders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Sheet1!$A$4:$A$9</c:f>
              <c:strCache>
                <c:ptCount val="6"/>
                <c:pt idx="0">
                  <c:v>Funky</c:v>
                </c:pt>
                <c:pt idx="1">
                  <c:v>Minimal</c:v>
                </c:pt>
                <c:pt idx="2">
                  <c:v>Athleisure</c:v>
                </c:pt>
                <c:pt idx="3">
                  <c:v>Trendy</c:v>
                </c:pt>
                <c:pt idx="4">
                  <c:v>Streetwear</c:v>
                </c:pt>
                <c:pt idx="5">
                  <c:v>Casual</c:v>
                </c:pt>
              </c:strCache>
            </c:strRef>
          </c:cat>
          <c:val>
            <c:numRef>
              <c:f>Sheet1!$C$4:$C$9</c:f>
              <c:numCache>
                <c:formatCode>General</c:formatCode>
                <c:ptCount val="6"/>
                <c:pt idx="0">
                  <c:v>237</c:v>
                </c:pt>
                <c:pt idx="1">
                  <c:v>273</c:v>
                </c:pt>
                <c:pt idx="2">
                  <c:v>262</c:v>
                </c:pt>
                <c:pt idx="3">
                  <c:v>273</c:v>
                </c:pt>
                <c:pt idx="4">
                  <c:v>234</c:v>
                </c:pt>
                <c:pt idx="5">
                  <c:v>238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823-47E1-B89C-62CE9E99F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85331679"/>
        <c:axId val="1185315359"/>
      </c:barChart>
      <c:lineChart>
        <c:grouping val="standard"/>
        <c:varyColors val="0"/>
        <c:ser>
          <c:idx val="2"/>
          <c:order val="2"/>
          <c:tx>
            <c:strRef>
              <c:f>Sheet1!$D$3</c:f>
              <c:strCache>
                <c:ptCount val="1"/>
                <c:pt idx="0">
                  <c:v>Average of conversion_rate (%)</c:v>
                </c:pt>
              </c:strCache>
            </c:strRef>
          </c:tx>
          <c:spPr>
            <a:ln w="508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Sheet1!$A$4:$A$9</c:f>
              <c:strCache>
                <c:ptCount val="6"/>
                <c:pt idx="0">
                  <c:v>Funky</c:v>
                </c:pt>
                <c:pt idx="1">
                  <c:v>Minimal</c:v>
                </c:pt>
                <c:pt idx="2">
                  <c:v>Athleisure</c:v>
                </c:pt>
                <c:pt idx="3">
                  <c:v>Trendy</c:v>
                </c:pt>
                <c:pt idx="4">
                  <c:v>Streetwear</c:v>
                </c:pt>
                <c:pt idx="5">
                  <c:v>Casual</c:v>
                </c:pt>
              </c:strCache>
            </c:strRef>
          </c:cat>
          <c:val>
            <c:numRef>
              <c:f>Sheet1!$D$4:$D$9</c:f>
              <c:numCache>
                <c:formatCode>0.0</c:formatCode>
                <c:ptCount val="6"/>
                <c:pt idx="0">
                  <c:v>52.193559322033892</c:v>
                </c:pt>
                <c:pt idx="1">
                  <c:v>51.773693693693673</c:v>
                </c:pt>
                <c:pt idx="2">
                  <c:v>51.07095238095237</c:v>
                </c:pt>
                <c:pt idx="3">
                  <c:v>50.194444444444436</c:v>
                </c:pt>
                <c:pt idx="4">
                  <c:v>49.61184210526315</c:v>
                </c:pt>
                <c:pt idx="5">
                  <c:v>49.198048780487795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823-47E1-B89C-62CE9E99FF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177203743"/>
        <c:axId val="1177202783"/>
      </c:lineChart>
      <c:catAx>
        <c:axId val="118533167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>
                    <a:effectLst/>
                  </a:rPr>
                  <a:t>Preferred Style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b" anchorCtr="0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5315359"/>
        <c:crosses val="autoZero"/>
        <c:auto val="1"/>
        <c:lblAlgn val="ctr"/>
        <c:lblOffset val="100"/>
        <c:noMultiLvlLbl val="0"/>
      </c:catAx>
      <c:valAx>
        <c:axId val="11853153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Number of Orders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5331679"/>
        <c:crosses val="autoZero"/>
        <c:crossBetween val="between"/>
      </c:valAx>
      <c:valAx>
        <c:axId val="1177202783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 dirty="0"/>
                  <a:t>Conversion Rate (%)</a:t>
                </a:r>
                <a:endParaRPr lang="en-US" b="1" dirty="0"/>
              </a:p>
            </c:rich>
          </c:tx>
          <c:layout>
            <c:manualLayout>
              <c:xMode val="edge"/>
              <c:yMode val="edge"/>
              <c:x val="0.6440355637367019"/>
              <c:y val="0.37558845144356956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7203743"/>
        <c:crosses val="max"/>
        <c:crossBetween val="between"/>
      </c:valAx>
      <c:catAx>
        <c:axId val="117720374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177202783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Question 3.xlsx]Sheet1!PivotTable3</c:name>
    <c:fmtId val="19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50800" cap="rnd">
            <a:solidFill>
              <a:srgbClr val="C00000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Sheet1!$B$41</c:f>
              <c:strCache>
                <c:ptCount val="1"/>
                <c:pt idx="0">
                  <c:v>Sum of total_orders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Sheet1!$A$42:$A$47</c:f>
              <c:strCache>
                <c:ptCount val="6"/>
                <c:pt idx="0">
                  <c:v>SouledStore</c:v>
                </c:pt>
                <c:pt idx="1">
                  <c:v>Flipkart</c:v>
                </c:pt>
                <c:pt idx="2">
                  <c:v>Instagram</c:v>
                </c:pt>
                <c:pt idx="3">
                  <c:v>Amazon</c:v>
                </c:pt>
                <c:pt idx="4">
                  <c:v>Meesho</c:v>
                </c:pt>
                <c:pt idx="5">
                  <c:v>Bewakoof</c:v>
                </c:pt>
              </c:strCache>
            </c:strRef>
          </c:cat>
          <c:val>
            <c:numRef>
              <c:f>Sheet1!$B$42:$B$47</c:f>
              <c:numCache>
                <c:formatCode>General</c:formatCode>
                <c:ptCount val="6"/>
                <c:pt idx="0">
                  <c:v>449</c:v>
                </c:pt>
                <c:pt idx="1">
                  <c:v>504</c:v>
                </c:pt>
                <c:pt idx="2">
                  <c:v>520</c:v>
                </c:pt>
                <c:pt idx="3">
                  <c:v>490</c:v>
                </c:pt>
                <c:pt idx="4">
                  <c:v>533</c:v>
                </c:pt>
                <c:pt idx="5">
                  <c:v>484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B9-4015-B0B8-F90E88F49AF3}"/>
            </c:ext>
          </c:extLst>
        </c:ser>
        <c:ser>
          <c:idx val="1"/>
          <c:order val="1"/>
          <c:tx>
            <c:strRef>
              <c:f>Sheet1!$C$41</c:f>
              <c:strCache>
                <c:ptCount val="1"/>
                <c:pt idx="0">
                  <c:v>Sum of delivered_orders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Sheet1!$A$42:$A$47</c:f>
              <c:strCache>
                <c:ptCount val="6"/>
                <c:pt idx="0">
                  <c:v>SouledStore</c:v>
                </c:pt>
                <c:pt idx="1">
                  <c:v>Flipkart</c:v>
                </c:pt>
                <c:pt idx="2">
                  <c:v>Instagram</c:v>
                </c:pt>
                <c:pt idx="3">
                  <c:v>Amazon</c:v>
                </c:pt>
                <c:pt idx="4">
                  <c:v>Meesho</c:v>
                </c:pt>
                <c:pt idx="5">
                  <c:v>Bewakoof</c:v>
                </c:pt>
              </c:strCache>
            </c:strRef>
          </c:cat>
          <c:val>
            <c:numRef>
              <c:f>Sheet1!$C$42:$C$47</c:f>
              <c:numCache>
                <c:formatCode>General</c:formatCode>
                <c:ptCount val="6"/>
                <c:pt idx="0">
                  <c:v>238</c:v>
                </c:pt>
                <c:pt idx="1">
                  <c:v>266</c:v>
                </c:pt>
                <c:pt idx="2">
                  <c:v>268</c:v>
                </c:pt>
                <c:pt idx="3">
                  <c:v>243</c:v>
                </c:pt>
                <c:pt idx="4">
                  <c:v>254</c:v>
                </c:pt>
                <c:pt idx="5">
                  <c:v>248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B9-4015-B0B8-F90E88F49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991188959"/>
        <c:axId val="991186559"/>
      </c:barChart>
      <c:lineChart>
        <c:grouping val="standard"/>
        <c:varyColors val="0"/>
        <c:ser>
          <c:idx val="2"/>
          <c:order val="2"/>
          <c:tx>
            <c:strRef>
              <c:f>Sheet1!$D$41</c:f>
              <c:strCache>
                <c:ptCount val="1"/>
                <c:pt idx="0">
                  <c:v>Average of conversion_rate (%)</c:v>
                </c:pt>
              </c:strCache>
            </c:strRef>
          </c:tx>
          <c:spPr>
            <a:ln w="50800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Sheet1!$A$42:$A$47</c:f>
              <c:strCache>
                <c:ptCount val="6"/>
                <c:pt idx="0">
                  <c:v>SouledStore</c:v>
                </c:pt>
                <c:pt idx="1">
                  <c:v>Flipkart</c:v>
                </c:pt>
                <c:pt idx="2">
                  <c:v>Instagram</c:v>
                </c:pt>
                <c:pt idx="3">
                  <c:v>Amazon</c:v>
                </c:pt>
                <c:pt idx="4">
                  <c:v>Meesho</c:v>
                </c:pt>
                <c:pt idx="5">
                  <c:v>Bewakoof</c:v>
                </c:pt>
              </c:strCache>
            </c:strRef>
          </c:cat>
          <c:val>
            <c:numRef>
              <c:f>Sheet1!$D$42:$D$47</c:f>
              <c:numCache>
                <c:formatCode>0.0</c:formatCode>
                <c:ptCount val="6"/>
                <c:pt idx="0">
                  <c:v>54.666864406779673</c:v>
                </c:pt>
                <c:pt idx="1">
                  <c:v>53.107606837606831</c:v>
                </c:pt>
                <c:pt idx="2">
                  <c:v>52.286171875000008</c:v>
                </c:pt>
                <c:pt idx="3">
                  <c:v>48.288898305084714</c:v>
                </c:pt>
                <c:pt idx="4">
                  <c:v>47.861119999999971</c:v>
                </c:pt>
                <c:pt idx="5">
                  <c:v>47.630624999999988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1B9-4015-B0B8-F90E88F49A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73610175"/>
        <c:axId val="1673607295"/>
      </c:lineChart>
      <c:catAx>
        <c:axId val="99118895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  <a:effectLst/>
                  </a:rPr>
                  <a:t>Signup Platform</a:t>
                </a:r>
                <a:endParaRPr lang="en-US" sz="1000" b="1" i="0" u="none" strike="noStrike" kern="1200" baseline="0" dirty="0">
                  <a:solidFill>
                    <a:sysClr val="windowText" lastClr="000000">
                      <a:lumMod val="65000"/>
                      <a:lumOff val="35000"/>
                    </a:sysClr>
                  </a:solidFill>
                </a:endParaRPr>
              </a:p>
            </c:rich>
          </c:tx>
          <c:layout>
            <c:manualLayout>
              <c:xMode val="edge"/>
              <c:yMode val="edge"/>
              <c:x val="0.27732233455622513"/>
              <c:y val="0.9335595198877064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1186559"/>
        <c:crosses val="autoZero"/>
        <c:auto val="1"/>
        <c:lblAlgn val="ctr"/>
        <c:lblOffset val="100"/>
        <c:noMultiLvlLbl val="0"/>
      </c:catAx>
      <c:valAx>
        <c:axId val="99118655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Number of Orders</a:t>
                </a:r>
              </a:p>
            </c:rich>
          </c:tx>
          <c:layout>
            <c:manualLayout>
              <c:xMode val="edge"/>
              <c:yMode val="edge"/>
              <c:x val="8.6307381496567269E-3"/>
              <c:y val="0.27999090479396138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91188959"/>
        <c:crosses val="autoZero"/>
        <c:crossBetween val="between"/>
      </c:valAx>
      <c:valAx>
        <c:axId val="1673607295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000" b="0" i="0" u="none" strike="noStrike" kern="1200" baseline="0">
                    <a:solidFill>
                      <a:prstClr val="black">
                        <a:lumMod val="65000"/>
                        <a:lumOff val="35000"/>
                      </a:prst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kern="1200" baseline="0" dirty="0">
                    <a:solidFill>
                      <a:sysClr val="windowText" lastClr="000000">
                        <a:lumMod val="65000"/>
                        <a:lumOff val="35000"/>
                      </a:sysClr>
                    </a:solidFill>
                  </a:rPr>
                  <a:t>Conversion Rate (%)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prstClr val="black">
                        <a:lumMod val="65000"/>
                        <a:lumOff val="35000"/>
                      </a:prstClr>
                    </a:solidFill>
                  </a:defRPr>
                </a:pPr>
                <a:endParaRPr lang="en-US" dirty="0"/>
              </a:p>
            </c:rich>
          </c:tx>
          <c:layout>
            <c:manualLayout>
              <c:xMode val="edge"/>
              <c:yMode val="edge"/>
              <c:x val="0.67272186569647208"/>
              <c:y val="0.3344941060200237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 b="0" i="0" u="none" strike="noStrike" kern="1200" baseline="0">
                  <a:solidFill>
                    <a:prstClr val="black">
                      <a:lumMod val="65000"/>
                      <a:lumOff val="35000"/>
                    </a:prst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0.0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3610175"/>
        <c:crosses val="max"/>
        <c:crossBetween val="between"/>
      </c:valAx>
      <c:catAx>
        <c:axId val="167361017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673607295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[Sql Question 4.xlsx]Sheet1!PivotTable4</c:name>
    <c:fmtId val="4"/>
  </c:pivotSource>
  <c:chart>
    <c:autoTitleDeleted val="1"/>
    <c:pivotFmts>
      <c:pivotFmt>
        <c:idx val="0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92D050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Sheet1!$B$3</c:f>
              <c:strCache>
                <c:ptCount val="1"/>
                <c:pt idx="0">
                  <c:v>Total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33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Sheet1!$A$4:$A$12</c:f>
              <c:strCache>
                <c:ptCount val="9"/>
                <c:pt idx="0">
                  <c:v>2</c:v>
                </c:pt>
                <c:pt idx="1">
                  <c:v>6</c:v>
                </c:pt>
                <c:pt idx="2">
                  <c:v>3</c:v>
                </c:pt>
                <c:pt idx="3">
                  <c:v>5</c:v>
                </c:pt>
                <c:pt idx="4">
                  <c:v>1</c:v>
                </c:pt>
                <c:pt idx="5">
                  <c:v>7</c:v>
                </c:pt>
                <c:pt idx="6">
                  <c:v>9</c:v>
                </c:pt>
                <c:pt idx="7">
                  <c:v>8</c:v>
                </c:pt>
                <c:pt idx="8">
                  <c:v>4</c:v>
                </c:pt>
              </c:strCache>
            </c:strRef>
          </c:cat>
          <c:val>
            <c:numRef>
              <c:f>Sheet1!$B$4:$B$12</c:f>
              <c:numCache>
                <c:formatCode>General</c:formatCode>
                <c:ptCount val="9"/>
                <c:pt idx="0">
                  <c:v>23</c:v>
                </c:pt>
                <c:pt idx="1">
                  <c:v>22</c:v>
                </c:pt>
                <c:pt idx="2">
                  <c:v>18</c:v>
                </c:pt>
                <c:pt idx="3">
                  <c:v>16</c:v>
                </c:pt>
                <c:pt idx="4">
                  <c:v>14</c:v>
                </c:pt>
                <c:pt idx="5">
                  <c:v>9</c:v>
                </c:pt>
                <c:pt idx="6">
                  <c:v>7</c:v>
                </c:pt>
                <c:pt idx="7">
                  <c:v>7</c:v>
                </c:pt>
                <c:pt idx="8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49-423B-8113-A96F338CA12E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1811530831"/>
        <c:axId val="1670533311"/>
      </c:barChart>
      <c:catAx>
        <c:axId val="1811530831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Ads Clicked Before First Purchase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70533311"/>
        <c:crosses val="autoZero"/>
        <c:auto val="1"/>
        <c:lblAlgn val="ctr"/>
        <c:lblOffset val="100"/>
        <c:noMultiLvlLbl val="0"/>
      </c:catAx>
      <c:valAx>
        <c:axId val="1670533311"/>
        <c:scaling>
          <c:orientation val="minMax"/>
        </c:scaling>
        <c:delete val="1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97" b="1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No. of Customers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197" b="1" i="0" u="none" strike="noStrike" kern="1200" baseline="0">
                  <a:solidFill>
                    <a:schemeClr val="dk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crossAx val="1811530831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baseline="0"/>
              <a:t>Print Types Requiring Ads but Still Underperforming</a:t>
            </a:r>
            <a:endParaRPr lang="en-US" b="1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'Sql question 5A'!$B$1</c:f>
              <c:strCache>
                <c:ptCount val="1"/>
                <c:pt idx="0">
                  <c:v>ad_orders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'Sql question 5A'!$A$2:$A$4</c:f>
              <c:strCache>
                <c:ptCount val="3"/>
                <c:pt idx="0">
                  <c:v>Text Print</c:v>
                </c:pt>
                <c:pt idx="1">
                  <c:v>Abstract</c:v>
                </c:pt>
                <c:pt idx="2">
                  <c:v>Graphic</c:v>
                </c:pt>
              </c:strCache>
            </c:strRef>
          </c:cat>
          <c:val>
            <c:numRef>
              <c:f>'Sql question 5A'!$B$2:$B$4</c:f>
              <c:numCache>
                <c:formatCode>General</c:formatCode>
                <c:ptCount val="3"/>
                <c:pt idx="0">
                  <c:v>1471</c:v>
                </c:pt>
                <c:pt idx="1">
                  <c:v>1400</c:v>
                </c:pt>
                <c:pt idx="2">
                  <c:v>1401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E1C-4ABE-8532-1385CCEC50C2}"/>
            </c:ext>
          </c:extLst>
        </c:ser>
        <c:ser>
          <c:idx val="1"/>
          <c:order val="1"/>
          <c:tx>
            <c:strRef>
              <c:f>'Sql question 5A'!$C$1</c:f>
              <c:strCache>
                <c:ptCount val="1"/>
                <c:pt idx="0">
                  <c:v>delivered_orders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'Sql question 5A'!$A$2:$A$4</c:f>
              <c:strCache>
                <c:ptCount val="3"/>
                <c:pt idx="0">
                  <c:v>Text Print</c:v>
                </c:pt>
                <c:pt idx="1">
                  <c:v>Abstract</c:v>
                </c:pt>
                <c:pt idx="2">
                  <c:v>Graphic</c:v>
                </c:pt>
              </c:strCache>
            </c:strRef>
          </c:cat>
          <c:val>
            <c:numRef>
              <c:f>'Sql question 5A'!$C$2:$C$4</c:f>
              <c:numCache>
                <c:formatCode>General</c:formatCode>
                <c:ptCount val="3"/>
                <c:pt idx="0">
                  <c:v>708</c:v>
                </c:pt>
                <c:pt idx="1">
                  <c:v>688</c:v>
                </c:pt>
                <c:pt idx="2">
                  <c:v>691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E1C-4ABE-8532-1385CCEC5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185330239"/>
        <c:axId val="1185306719"/>
      </c:barChart>
      <c:lineChart>
        <c:grouping val="standard"/>
        <c:varyColors val="0"/>
        <c:ser>
          <c:idx val="2"/>
          <c:order val="2"/>
          <c:tx>
            <c:strRef>
              <c:f>'Sql question 5A'!$D$1</c:f>
              <c:strCache>
                <c:ptCount val="1"/>
                <c:pt idx="0">
                  <c:v>conversion_rate</c:v>
                </c:pt>
              </c:strCache>
            </c:strRef>
          </c:tx>
          <c:spPr>
            <a:ln w="60325" cap="rnd">
              <a:solidFill>
                <a:srgbClr val="C00000"/>
              </a:solidFill>
              <a:round/>
            </a:ln>
            <a:effectLst/>
          </c:spPr>
          <c:marker>
            <c:symbol val="none"/>
          </c:marker>
          <c:cat>
            <c:strRef>
              <c:f>'Sql question 5A'!$A$2:$A$4</c:f>
              <c:strCache>
                <c:ptCount val="3"/>
                <c:pt idx="0">
                  <c:v>Text Print</c:v>
                </c:pt>
                <c:pt idx="1">
                  <c:v>Abstract</c:v>
                </c:pt>
                <c:pt idx="2">
                  <c:v>Graphic</c:v>
                </c:pt>
              </c:strCache>
            </c:strRef>
          </c:cat>
          <c:val>
            <c:numRef>
              <c:f>'Sql question 5A'!$D$2:$D$4</c:f>
              <c:numCache>
                <c:formatCode>General</c:formatCode>
                <c:ptCount val="3"/>
                <c:pt idx="0">
                  <c:v>48.13</c:v>
                </c:pt>
                <c:pt idx="1">
                  <c:v>49.14</c:v>
                </c:pt>
                <c:pt idx="2">
                  <c:v>49.32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E1C-4ABE-8532-1385CCEC50C2}"/>
            </c:ext>
          </c:extLst>
        </c:ser>
        <c:ser>
          <c:idx val="3"/>
          <c:order val="3"/>
          <c:tx>
            <c:strRef>
              <c:f>'Sql question 5A'!$E$1</c:f>
              <c:strCache>
                <c:ptCount val="1"/>
                <c:pt idx="0">
                  <c:v>Avg_conversion_rate</c:v>
                </c:pt>
              </c:strCache>
            </c:strRef>
          </c:tx>
          <c:spPr>
            <a:ln w="63500" cap="rnd">
              <a:solidFill>
                <a:srgbClr val="7030A0"/>
              </a:solidFill>
              <a:round/>
            </a:ln>
            <a:effectLst/>
          </c:spPr>
          <c:marker>
            <c:symbol val="none"/>
          </c:marker>
          <c:cat>
            <c:strRef>
              <c:f>'Sql question 5A'!$A$2:$A$4</c:f>
              <c:strCache>
                <c:ptCount val="3"/>
                <c:pt idx="0">
                  <c:v>Text Print</c:v>
                </c:pt>
                <c:pt idx="1">
                  <c:v>Abstract</c:v>
                </c:pt>
                <c:pt idx="2">
                  <c:v>Graphic</c:v>
                </c:pt>
              </c:strCache>
            </c:strRef>
          </c:cat>
          <c:val>
            <c:numRef>
              <c:f>'Sql question 5A'!$E$2:$E$4</c:f>
              <c:numCache>
                <c:formatCode>General</c:formatCode>
                <c:ptCount val="3"/>
                <c:pt idx="0">
                  <c:v>49.5</c:v>
                </c:pt>
                <c:pt idx="1">
                  <c:v>49.5</c:v>
                </c:pt>
                <c:pt idx="2">
                  <c:v>49.5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E1C-4ABE-8532-1385CCEC50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810545567"/>
        <c:axId val="1810543167"/>
      </c:lineChart>
      <c:catAx>
        <c:axId val="1185330239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b="1"/>
                  <a:t>Print Type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5306719"/>
        <c:crosses val="autoZero"/>
        <c:auto val="1"/>
        <c:lblAlgn val="ctr"/>
        <c:lblOffset val="100"/>
        <c:noMultiLvlLbl val="0"/>
      </c:catAx>
      <c:valAx>
        <c:axId val="1185306719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Orders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85330239"/>
        <c:crosses val="autoZero"/>
        <c:crossBetween val="between"/>
      </c:valAx>
      <c:valAx>
        <c:axId val="1810543167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000" b="1" i="0" u="none" strike="noStrike" baseline="0"/>
                  <a:t>Conversion Rate (%)</a:t>
                </a:r>
                <a:endParaRPr lang="en-US" b="1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10545567"/>
        <c:crosses val="max"/>
        <c:crossBetween val="between"/>
      </c:valAx>
      <c:catAx>
        <c:axId val="1810545567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10543167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>
          <a:outerShdw blurRad="63500" sx="102000" sy="102000" algn="ctr" rotWithShape="0">
            <a:prstClr val="black">
              <a:alpha val="40000"/>
            </a:prstClr>
          </a:outerShdw>
        </a:effectLst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lt1"/>
    </cs:fontRef>
    <cs:spPr/>
    <cs:defRPr sz="133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33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94263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300" y="1803400"/>
            <a:ext cx="5825202" cy="1234727"/>
          </a:xfrm>
        </p:spPr>
        <p:txBody>
          <a:bodyPr anchor="b">
            <a:noAutofit/>
          </a:bodyPr>
          <a:lstStyle>
            <a:lvl1pPr algn="r">
              <a:defRPr sz="405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300" y="3038125"/>
            <a:ext cx="5825202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079487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48833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371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17298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636285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96568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770095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0346" y="386193"/>
            <a:ext cx="3385156" cy="41448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050"/>
            </a:lvl1pPr>
            <a:lvl2pPr marL="342797" indent="0">
              <a:buNone/>
              <a:defRPr sz="1050"/>
            </a:lvl2pPr>
            <a:lvl3pPr marL="685595" indent="0">
              <a:buNone/>
              <a:defRPr sz="900"/>
            </a:lvl3pPr>
            <a:lvl4pPr marL="1028392" indent="0">
              <a:buNone/>
              <a:defRPr sz="750"/>
            </a:lvl4pPr>
            <a:lvl5pPr marL="1371188" indent="0">
              <a:buNone/>
              <a:defRPr sz="750"/>
            </a:lvl5pPr>
            <a:lvl6pPr marL="1713986" indent="0">
              <a:buNone/>
              <a:defRPr sz="750"/>
            </a:lvl6pPr>
            <a:lvl7pPr marL="2056783" indent="0">
              <a:buNone/>
              <a:defRPr sz="750"/>
            </a:lvl7pPr>
            <a:lvl8pPr marL="2399580" indent="0">
              <a:buNone/>
              <a:defRPr sz="750"/>
            </a:lvl8pPr>
            <a:lvl9pPr marL="2742377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720335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457200"/>
            <a:ext cx="6447501" cy="288428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5071350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601885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8734030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5491751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139937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135129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068166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457200"/>
            <a:ext cx="978557" cy="3938588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3074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4216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3/28/2026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71119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  <p:sldLayoutId id="2147483670" r:id="rId2"/>
    <p:sldLayoutId id="2147483671" r:id="rId3"/>
    <p:sldLayoutId id="2147483672" r:id="rId4"/>
    <p:sldLayoutId id="2147483673" r:id="rId5"/>
    <p:sldLayoutId id="2147483674" r:id="rId6"/>
    <p:sldLayoutId id="2147483675" r:id="rId7"/>
    <p:sldLayoutId id="2147483676" r:id="rId8"/>
    <p:sldLayoutId id="2147483677" r:id="rId9"/>
    <p:sldLayoutId id="2147483678" r:id="rId10"/>
    <p:sldLayoutId id="2147483679" r:id="rId11"/>
    <p:sldLayoutId id="2147483680" r:id="rId12"/>
    <p:sldLayoutId id="2147483681" r:id="rId13"/>
    <p:sldLayoutId id="2147483682" r:id="rId14"/>
    <p:sldLayoutId id="2147483683" r:id="rId15"/>
    <p:sldLayoutId id="2147483684" r:id="rId16"/>
    <p:sldLayoutId id="2147483685" r:id="rId17"/>
  </p:sldLayoutIdLst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cover_top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29260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2926080"/>
          </a:xfrm>
          <a:prstGeom prst="rect">
            <a:avLst/>
          </a:prstGeom>
          <a:solidFill>
            <a:srgbClr val="000000">
              <a:alpha val="70000"/>
            </a:srgbClr>
          </a:solidFill>
          <a:ln w="12700">
            <a:solidFill>
              <a:srgbClr val="00000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/home/claude/torn_ed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31720"/>
            <a:ext cx="9144000" cy="82296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2880360"/>
            <a:ext cx="9144000" cy="226314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2"/>
          <p:cNvSpPr/>
          <p:nvPr/>
        </p:nvSpPr>
        <p:spPr>
          <a:xfrm>
            <a:off x="0" y="2880360"/>
            <a:ext cx="164592" cy="226314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365760" y="2971800"/>
            <a:ext cx="8503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EFFECTIVENESS &amp; WASTAGE DETECTION</a:t>
            </a:r>
            <a:endParaRPr lang="en-US" sz="3000" dirty="0"/>
          </a:p>
        </p:txBody>
      </p:sp>
      <p:sp>
        <p:nvSpPr>
          <p:cNvPr id="8" name="Text 4"/>
          <p:cNvSpPr/>
          <p:nvPr/>
        </p:nvSpPr>
        <p:spPr>
          <a:xfrm>
            <a:off x="365760" y="3840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Ads Work and Where Money Burns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00FB8A-F230-AF9B-F783-9CE6EF7B7A63}"/>
              </a:ext>
            </a:extLst>
          </p:cNvPr>
          <p:cNvSpPr/>
          <p:nvPr/>
        </p:nvSpPr>
        <p:spPr>
          <a:xfrm>
            <a:off x="3372788" y="929389"/>
            <a:ext cx="5426438" cy="3582649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1200150" lvl="2" indent="-285750" algn="ctr">
              <a:buFont typeface="Wingdings" panose="05000000000000000000" pitchFamily="2" charset="2"/>
              <a:buChar char="q"/>
            </a:pPr>
            <a:r>
              <a:rPr lang="en-US" sz="1600" dirty="0"/>
              <a:t>This case study contains 2 tables.</a:t>
            </a:r>
          </a:p>
          <a:p>
            <a:pPr marL="285750" indent="-285750" algn="ctr">
              <a:buFont typeface="Wingdings" panose="05000000000000000000" pitchFamily="2" charset="2"/>
              <a:buChar char="q"/>
            </a:pPr>
            <a:endParaRPr lang="en-US" sz="16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600" b="1" dirty="0"/>
              <a:t>Customers Table:</a:t>
            </a:r>
            <a:r>
              <a:rPr lang="en-US" sz="1600" dirty="0"/>
              <a:t> Contains demographic and acquisition details such as age, city, platform, and ad interaction before first purchase.</a:t>
            </a:r>
            <a:br>
              <a:rPr lang="en-US" sz="1600" dirty="0"/>
            </a:br>
            <a:endParaRPr lang="en-US" sz="1600" dirty="0"/>
          </a:p>
          <a:p>
            <a:pPr marL="285750" indent="-285750" algn="ctr">
              <a:buFont typeface="Wingdings" panose="05000000000000000000" pitchFamily="2" charset="2"/>
              <a:buChar char="q"/>
            </a:pPr>
            <a:r>
              <a:rPr lang="en-US" sz="1600" b="1" dirty="0"/>
              <a:t>Orders Table:</a:t>
            </a:r>
            <a:r>
              <a:rPr lang="en-US" sz="1600" dirty="0"/>
              <a:t> Captures transaction-level data including purchase behavior, platform performance, and order outcomes.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14F90EF-594D-CD9A-1B77-60AB98E33763}"/>
              </a:ext>
            </a:extLst>
          </p:cNvPr>
          <p:cNvSpPr/>
          <p:nvPr/>
        </p:nvSpPr>
        <p:spPr>
          <a:xfrm>
            <a:off x="344774" y="2248525"/>
            <a:ext cx="2465882" cy="876924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Case Study</a:t>
            </a:r>
          </a:p>
        </p:txBody>
      </p:sp>
    </p:spTree>
    <p:extLst>
      <p:ext uri="{BB962C8B-B14F-4D97-AF65-F5344CB8AC3E}">
        <p14:creationId xmlns:p14="http://schemas.microsoft.com/office/powerpoint/2010/main" val="999478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05EAA-D68A-0721-8B24-226D0695A1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r>
              <a:rPr lang="en-US" sz="1600" dirty="0"/>
              <a:t>Identify where ad spend is generating conversions.</a:t>
            </a:r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r>
              <a:rPr lang="en-US" sz="1600" dirty="0"/>
              <a:t>Detect platforms and segments with wasted ad spend.</a:t>
            </a:r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r>
              <a:rPr lang="en-US" sz="1600" dirty="0"/>
              <a:t>Distinguish between paid vs organic performance.</a:t>
            </a:r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r>
              <a:rPr lang="en-US" sz="1600" dirty="0"/>
              <a:t>Reduce acquisition cost while improving conversions</a:t>
            </a:r>
          </a:p>
          <a:p>
            <a:pPr algn="ctr">
              <a:buClr>
                <a:schemeClr val="tx1">
                  <a:lumMod val="95000"/>
                  <a:lumOff val="5000"/>
                </a:schemeClr>
              </a:buClr>
              <a:buSzPct val="94000"/>
              <a:buFont typeface="Wingdings" panose="05000000000000000000" pitchFamily="2" charset="2"/>
              <a:buChar char="§"/>
            </a:pPr>
            <a:endParaRPr lang="en-US" sz="1600" dirty="0"/>
          </a:p>
          <a:p>
            <a:pPr marL="0" indent="0" algn="ctr">
              <a:buClr>
                <a:schemeClr val="tx1">
                  <a:lumMod val="95000"/>
                  <a:lumOff val="5000"/>
                </a:schemeClr>
              </a:buClr>
              <a:buSzPct val="94000"/>
              <a:buNone/>
            </a:pP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195E7E-DEC7-FB13-F6B7-C7D450FF47E9}"/>
              </a:ext>
            </a:extLst>
          </p:cNvPr>
          <p:cNvSpPr/>
          <p:nvPr/>
        </p:nvSpPr>
        <p:spPr>
          <a:xfrm>
            <a:off x="508001" y="457200"/>
            <a:ext cx="5329003" cy="990600"/>
          </a:xfrm>
          <a:prstGeom prst="round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Century Gothic" panose="020B0502020202020204" pitchFamily="34" charset="0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3231423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2744BC-E0B0-108F-EAAD-7108E9054597}"/>
              </a:ext>
            </a:extLst>
          </p:cNvPr>
          <p:cNvSpPr/>
          <p:nvPr/>
        </p:nvSpPr>
        <p:spPr>
          <a:xfrm>
            <a:off x="524656" y="322289"/>
            <a:ext cx="6985416" cy="4557009"/>
          </a:xfrm>
          <a:prstGeom prst="rect">
            <a:avLst/>
          </a:prstGeom>
          <a:ln>
            <a:noFill/>
          </a:ln>
          <a:effectLst>
            <a:glow rad="63500">
              <a:schemeClr val="accent1">
                <a:satMod val="175000"/>
                <a:alpha val="40000"/>
              </a:schemeClr>
            </a:glow>
            <a:innerShdw blurRad="63500" dist="50800" dir="13500000">
              <a:prstClr val="black">
                <a:alpha val="50000"/>
              </a:prstClr>
            </a:inn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latin typeface="Century Gothic" panose="020B0502020202020204" pitchFamily="34" charset="0"/>
              </a:rPr>
              <a:t>Strategic Questions for Reducing Ad Wastage</a:t>
            </a:r>
          </a:p>
          <a:p>
            <a:pPr algn="ctr"/>
            <a:endParaRPr lang="en-US" sz="2400" b="1" dirty="0">
              <a:latin typeface="Century Gothic" panose="020B0502020202020204" pitchFamily="34" charset="0"/>
            </a:endParaRPr>
          </a:p>
          <a:p>
            <a:pPr algn="ctr"/>
            <a:endParaRPr lang="en-US" sz="2400" b="1" dirty="0">
              <a:latin typeface="Century Gothic" panose="020B0502020202020204" pitchFamily="34" charset="0"/>
            </a:endParaRPr>
          </a:p>
          <a:p>
            <a:pPr algn="ctr"/>
            <a:endParaRPr lang="en-US" sz="2400" b="1" dirty="0">
              <a:latin typeface="Century Gothic" panose="020B0502020202020204" pitchFamily="34" charset="0"/>
            </a:endParaRPr>
          </a:p>
          <a:p>
            <a:pPr marL="457200" indent="-457200" algn="ctr">
              <a:buFont typeface="+mj-lt"/>
              <a:buAutoNum type="arabicPeriod"/>
            </a:pPr>
            <a:r>
              <a:rPr lang="en-US" sz="1600" dirty="0"/>
              <a:t>Which platforms have high ad clicks but low conversion rate?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1600" dirty="0"/>
              <a:t>Which cities generate high ad clicks but low delivered orders?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1600" dirty="0"/>
              <a:t>Which customer segments convert without ads?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1600" dirty="0"/>
              <a:t>Which ad-driven customers never purchase again?</a:t>
            </a:r>
          </a:p>
          <a:p>
            <a:pPr marL="457200" indent="-457200" algn="ctr">
              <a:buFont typeface="+mj-lt"/>
              <a:buAutoNum type="arabicPeriod"/>
            </a:pPr>
            <a:r>
              <a:rPr lang="en-US" sz="1600" dirty="0"/>
              <a:t>Which print types require ads but still underperform?</a:t>
            </a:r>
            <a:endParaRPr lang="en-US" sz="1600" b="1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9202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D5BF3E2-90A0-4B1C-2827-94946E1EF3F0}"/>
              </a:ext>
            </a:extLst>
          </p:cNvPr>
          <p:cNvSpPr/>
          <p:nvPr/>
        </p:nvSpPr>
        <p:spPr>
          <a:xfrm>
            <a:off x="1144988" y="119270"/>
            <a:ext cx="5764695" cy="54068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>
              <a:defRPr sz="1400" b="0" i="0" u="none" strike="noStrike" kern="1200" spc="0" baseline="0">
                <a:solidFill>
                  <a:prstClr val="black">
                    <a:lumMod val="65000"/>
                    <a:lumOff val="35000"/>
                  </a:prstClr>
                </a:solidFill>
                <a:latin typeface="+mn-lt"/>
                <a:ea typeface="+mn-ea"/>
                <a:cs typeface="+mn-cs"/>
              </a:defRPr>
            </a:pPr>
            <a:r>
              <a:rPr lang="en-US" sz="1600" b="1" dirty="0">
                <a:latin typeface="Century Gothic" panose="020B0502020202020204" pitchFamily="34" charset="0"/>
              </a:rPr>
              <a:t>Platforms with High Ad Clicks but Low Conversion Rate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3E9E893-D258-21A0-6E3F-E6EB5BD6F1B3}"/>
              </a:ext>
            </a:extLst>
          </p:cNvPr>
          <p:cNvSpPr/>
          <p:nvPr/>
        </p:nvSpPr>
        <p:spPr>
          <a:xfrm>
            <a:off x="453224" y="834887"/>
            <a:ext cx="4627659" cy="3140765"/>
          </a:xfrm>
          <a:prstGeom prst="round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8E0C128-CC5A-6D1E-E258-3C38F9866C9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23290599"/>
              </p:ext>
            </p:extLst>
          </p:nvPr>
        </p:nvGraphicFramePr>
        <p:xfrm>
          <a:off x="369735" y="659958"/>
          <a:ext cx="4627659" cy="29265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D0914C8-1536-2E2B-FF7A-53AB7B9AE104}"/>
              </a:ext>
            </a:extLst>
          </p:cNvPr>
          <p:cNvSpPr/>
          <p:nvPr/>
        </p:nvSpPr>
        <p:spPr>
          <a:xfrm>
            <a:off x="2576223" y="4213198"/>
            <a:ext cx="6512118" cy="540688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200" dirty="0"/>
              <a:t>This pattern signals clear </a:t>
            </a:r>
            <a:r>
              <a:rPr lang="en-US" sz="1200" b="1" dirty="0"/>
              <a:t>ad budget wastage</a:t>
            </a:r>
            <a:r>
              <a:rPr lang="en-US" sz="1200" dirty="0"/>
              <a:t> on both platforms due to poor post-click conversion.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422633C-78EF-E5CF-98A3-B6D6C83EC8BC}"/>
              </a:ext>
            </a:extLst>
          </p:cNvPr>
          <p:cNvSpPr/>
          <p:nvPr/>
        </p:nvSpPr>
        <p:spPr>
          <a:xfrm>
            <a:off x="5567899" y="835134"/>
            <a:ext cx="3252083" cy="1288112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200" dirty="0"/>
              <a:t>Both Meesho (1,187) and Bewakoof (1,200) recorded </a:t>
            </a:r>
            <a:r>
              <a:rPr lang="en-US" sz="1200" b="1" dirty="0"/>
              <a:t>high ad clicks</a:t>
            </a:r>
            <a:r>
              <a:rPr lang="en-US" sz="1200" dirty="0"/>
              <a:t> but conversions stayed significantly lower at 580 and 587.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352141-2A1F-C88E-E323-1B8F9DE59581}"/>
              </a:ext>
            </a:extLst>
          </p:cNvPr>
          <p:cNvSpPr/>
          <p:nvPr/>
        </p:nvSpPr>
        <p:spPr>
          <a:xfrm>
            <a:off x="5605669" y="2488385"/>
            <a:ext cx="3252084" cy="1359673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200" dirty="0"/>
              <a:t>Conversion rates of </a:t>
            </a:r>
            <a:r>
              <a:rPr lang="en-US" sz="1200" b="1" dirty="0"/>
              <a:t>48.86% and 48.92%</a:t>
            </a:r>
            <a:r>
              <a:rPr lang="en-US" sz="1200" dirty="0"/>
              <a:t> indicate that majority of clicks are </a:t>
            </a:r>
            <a:r>
              <a:rPr lang="en-US" sz="1200" b="1" dirty="0"/>
              <a:t>not turning into purchases.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502615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A48D4-FDFE-16B9-941D-529652856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001" y="0"/>
            <a:ext cx="6349999" cy="382250"/>
          </a:xfr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latin typeface="Century Gothic" panose="020B0502020202020204" pitchFamily="34" charset="0"/>
              </a:rPr>
              <a:t>High Ad Clicks but Low Deliveries Indicate City-Level Ad Inefficiency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C24FE6-2865-453E-CD25-FA684839D2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08001" y="1528166"/>
            <a:ext cx="2890896" cy="1938337"/>
          </a:xfrm>
        </p:spPr>
        <p:txBody>
          <a:bodyPr>
            <a:norm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</a:pPr>
            <a:endParaRPr lang="en-US" sz="1400" dirty="0"/>
          </a:p>
          <a:p>
            <a:pPr marL="171450" indent="-171450"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Out of </a:t>
            </a:r>
            <a:r>
              <a:rPr lang="en-US" sz="1400" b="1" dirty="0"/>
              <a:t>14 cities</a:t>
            </a:r>
            <a:r>
              <a:rPr lang="en-US" sz="1400" dirty="0"/>
              <a:t>, only </a:t>
            </a:r>
            <a:r>
              <a:rPr lang="en-US" sz="1400" b="1" dirty="0"/>
              <a:t>Hyderabad</a:t>
            </a:r>
            <a:r>
              <a:rPr lang="en-US" sz="1400" dirty="0"/>
              <a:t> recorded high ad clicks </a:t>
            </a:r>
            <a:r>
              <a:rPr lang="en-US" sz="1400" b="1" dirty="0"/>
              <a:t>(528)</a:t>
            </a:r>
            <a:r>
              <a:rPr lang="en-US" sz="1400" dirty="0"/>
              <a:t> but low delivered orders </a:t>
            </a:r>
            <a:r>
              <a:rPr lang="en-US" sz="1400" b="1" dirty="0"/>
              <a:t>(246)</a:t>
            </a:r>
            <a:r>
              <a:rPr lang="en-US" sz="1400" dirty="0"/>
              <a:t>, resulting in a conversion rate of just </a:t>
            </a:r>
            <a:r>
              <a:rPr lang="en-US" sz="1400" b="1" dirty="0"/>
              <a:t>46.6%</a:t>
            </a:r>
            <a:endParaRPr lang="en-US" sz="1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339219E-C919-134C-0FC6-C0974C25171D}"/>
              </a:ext>
            </a:extLst>
          </p:cNvPr>
          <p:cNvSpPr/>
          <p:nvPr/>
        </p:nvSpPr>
        <p:spPr>
          <a:xfrm>
            <a:off x="3485214" y="588421"/>
            <a:ext cx="3917298" cy="4061976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9">
            <a:extLst>
              <a:ext uri="{FF2B5EF4-FFF2-40B4-BE49-F238E27FC236}">
                <a16:creationId xmlns:a16="http://schemas.microsoft.com/office/drawing/2014/main" id="{6E37BAEB-221F-5AFC-B9F6-2E60E1261B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85213" y="612479"/>
            <a:ext cx="3917299" cy="4037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89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085190C-4A37-EA1C-3FA4-53ED8CADD76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8929960"/>
              </p:ext>
            </p:extLst>
          </p:nvPr>
        </p:nvGraphicFramePr>
        <p:xfrm>
          <a:off x="246463" y="0"/>
          <a:ext cx="6542957" cy="404984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Oval 4">
            <a:extLst>
              <a:ext uri="{FF2B5EF4-FFF2-40B4-BE49-F238E27FC236}">
                <a16:creationId xmlns:a16="http://schemas.microsoft.com/office/drawing/2014/main" id="{0F173850-B62A-B907-489D-6FA9F71218E8}"/>
              </a:ext>
            </a:extLst>
          </p:cNvPr>
          <p:cNvSpPr/>
          <p:nvPr/>
        </p:nvSpPr>
        <p:spPr>
          <a:xfrm>
            <a:off x="82447" y="397239"/>
            <a:ext cx="599606" cy="3297836"/>
          </a:xfrm>
          <a:prstGeom prst="ellipse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endParaRPr lang="en-US" sz="14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AA9A773-C91F-3AE4-0036-FB267D757516}"/>
              </a:ext>
            </a:extLst>
          </p:cNvPr>
          <p:cNvSpPr/>
          <p:nvPr/>
        </p:nvSpPr>
        <p:spPr>
          <a:xfrm>
            <a:off x="682052" y="4167266"/>
            <a:ext cx="6483246" cy="839449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100" b="1" dirty="0"/>
              <a:t>Casual</a:t>
            </a:r>
            <a:r>
              <a:rPr lang="en-US" sz="1100" dirty="0"/>
              <a:t> style has the </a:t>
            </a:r>
            <a:r>
              <a:rPr lang="en-US" sz="1100" b="1" dirty="0"/>
              <a:t>lowest conversion rate (~49.2%)</a:t>
            </a:r>
            <a:r>
              <a:rPr lang="en-US" sz="1100" dirty="0"/>
              <a:t> with only </a:t>
            </a:r>
            <a:r>
              <a:rPr lang="en-US" sz="1100" b="1" dirty="0"/>
              <a:t>238 delivered orders</a:t>
            </a:r>
            <a:r>
              <a:rPr lang="en-US" sz="1100" dirty="0"/>
              <a:t>, making it the weakest organic performer among all styles.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9842AF-8F81-E536-7E78-B230C014E11C}"/>
              </a:ext>
            </a:extLst>
          </p:cNvPr>
          <p:cNvSpPr txBox="1"/>
          <p:nvPr/>
        </p:nvSpPr>
        <p:spPr>
          <a:xfrm>
            <a:off x="6852285" y="1624059"/>
            <a:ext cx="229171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200" b="1" dirty="0"/>
              <a:t>Funky</a:t>
            </a:r>
            <a:r>
              <a:rPr lang="en-US" sz="1200" dirty="0"/>
              <a:t> style starts with the </a:t>
            </a:r>
            <a:r>
              <a:rPr lang="en-US" sz="1200" b="1" dirty="0"/>
              <a:t>highest conversion rate (~52.2%)</a:t>
            </a:r>
            <a:r>
              <a:rPr lang="en-US" sz="1200" dirty="0"/>
              <a:t> despite having fewer total orders </a:t>
            </a:r>
            <a:r>
              <a:rPr lang="en-US" sz="1200" b="1" dirty="0"/>
              <a:t>(480)</a:t>
            </a:r>
            <a:r>
              <a:rPr lang="en-US" sz="1200" dirty="0"/>
              <a:t>, making it the strongest organic converter.</a:t>
            </a:r>
          </a:p>
        </p:txBody>
      </p:sp>
    </p:spTree>
    <p:extLst>
      <p:ext uri="{BB962C8B-B14F-4D97-AF65-F5344CB8AC3E}">
        <p14:creationId xmlns:p14="http://schemas.microsoft.com/office/powerpoint/2010/main" val="4012899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D2EB7CF-74F3-834E-8550-8A8E64DDDB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83319106"/>
              </p:ext>
            </p:extLst>
          </p:nvPr>
        </p:nvGraphicFramePr>
        <p:xfrm>
          <a:off x="893288" y="847750"/>
          <a:ext cx="7357424" cy="2792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EA92412B-D016-045A-6C8E-542F16AF57EA}"/>
              </a:ext>
            </a:extLst>
          </p:cNvPr>
          <p:cNvSpPr/>
          <p:nvPr/>
        </p:nvSpPr>
        <p:spPr>
          <a:xfrm>
            <a:off x="327660" y="3939540"/>
            <a:ext cx="6225540" cy="861060"/>
          </a:xfrm>
          <a:prstGeom prst="round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b="1" dirty="0"/>
              <a:t>SouledStore</a:t>
            </a:r>
            <a:r>
              <a:rPr lang="en-US" sz="1400" dirty="0"/>
              <a:t> leads with the highest organic conversion rate </a:t>
            </a:r>
            <a:r>
              <a:rPr lang="en-US" sz="1400" b="1" dirty="0"/>
              <a:t>(~54.7%)</a:t>
            </a:r>
            <a:r>
              <a:rPr lang="en-US" sz="1400" dirty="0"/>
              <a:t> while </a:t>
            </a:r>
            <a:r>
              <a:rPr lang="en-US" sz="1400" b="1" dirty="0"/>
              <a:t>Bewakoof</a:t>
            </a:r>
            <a:r>
              <a:rPr lang="en-US" sz="1400" dirty="0"/>
              <a:t> performs the weakest at just </a:t>
            </a:r>
            <a:r>
              <a:rPr lang="en-US" sz="1400" b="1" dirty="0"/>
              <a:t>(~47.6%)</a:t>
            </a:r>
            <a:r>
              <a:rPr lang="en-US" sz="1400" dirty="0"/>
              <a:t> among all signup platforms.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2D39BD3-0EB4-16F5-1FEE-016B5C8F872E}"/>
              </a:ext>
            </a:extLst>
          </p:cNvPr>
          <p:cNvSpPr/>
          <p:nvPr/>
        </p:nvSpPr>
        <p:spPr>
          <a:xfrm>
            <a:off x="800100" y="167640"/>
            <a:ext cx="6225540" cy="381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entury Gothic" panose="020B0502020202020204" pitchFamily="34" charset="0"/>
              </a:rPr>
              <a:t>Customer segments converting without ads </a:t>
            </a:r>
          </a:p>
          <a:p>
            <a:pPr algn="ctr"/>
            <a:r>
              <a:rPr lang="en-US" sz="1600" b="1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entury Gothic" panose="020B0502020202020204" pitchFamily="34" charset="0"/>
              </a:rPr>
              <a:t>(</a:t>
            </a:r>
            <a:r>
              <a:rPr lang="en-US" sz="1600" dirty="0">
                <a:latin typeface="Century Gothic" panose="020B0502020202020204" pitchFamily="34" charset="0"/>
              </a:rPr>
              <a:t>By Signup Platform</a:t>
            </a:r>
            <a:r>
              <a:rPr lang="en-US" sz="1600" b="1" dirty="0">
                <a:solidFill>
                  <a:sysClr val="windowText" lastClr="000000">
                    <a:lumMod val="65000"/>
                    <a:lumOff val="35000"/>
                  </a:sysClr>
                </a:solidFill>
                <a:latin typeface="Century Gothic" panose="020B0502020202020204" pitchFamily="34" charset="0"/>
              </a:rPr>
              <a:t>) </a:t>
            </a:r>
          </a:p>
          <a:p>
            <a:pPr algn="ctr"/>
            <a:endParaRPr lang="en-US" sz="1600" dirty="0">
              <a:latin typeface="Century Gothic" panose="020B0502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35094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A222A7F9-9B37-3225-566F-728EB0E133A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12431630"/>
              </p:ext>
            </p:extLst>
          </p:nvPr>
        </p:nvGraphicFramePr>
        <p:xfrm>
          <a:off x="3390900" y="754380"/>
          <a:ext cx="5295537" cy="301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C78C45F6-631B-A6C4-A923-90D84BAABEFE}"/>
              </a:ext>
            </a:extLst>
          </p:cNvPr>
          <p:cNvSpPr/>
          <p:nvPr/>
        </p:nvSpPr>
        <p:spPr>
          <a:xfrm>
            <a:off x="914400" y="0"/>
            <a:ext cx="5669280" cy="5867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entury Gothic" panose="020B0502020202020204" pitchFamily="34" charset="0"/>
              </a:rPr>
              <a:t>Ad-Driven Customers Who Never Purchased Again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entury Gothic" panose="020B0502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1D2DCC6-8E19-0B14-A9B9-0E2E0697795A}"/>
              </a:ext>
            </a:extLst>
          </p:cNvPr>
          <p:cNvSpPr/>
          <p:nvPr/>
        </p:nvSpPr>
        <p:spPr>
          <a:xfrm>
            <a:off x="0" y="968420"/>
            <a:ext cx="2689860" cy="69274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Total One-Time Buyers</a:t>
            </a:r>
            <a:r>
              <a:rPr lang="en-US" dirty="0">
                <a:solidFill>
                  <a:srgbClr val="FF0000"/>
                </a:solidFill>
              </a:rPr>
              <a:t>: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122</a:t>
            </a:r>
          </a:p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CAAD0CE-C3C1-8437-BF80-3457C4168148}"/>
              </a:ext>
            </a:extLst>
          </p:cNvPr>
          <p:cNvSpPr/>
          <p:nvPr/>
        </p:nvSpPr>
        <p:spPr>
          <a:xfrm>
            <a:off x="419100" y="4069080"/>
            <a:ext cx="7109460" cy="9144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400" dirty="0"/>
              <a:t>A total of </a:t>
            </a:r>
            <a:r>
              <a:rPr lang="en-US" sz="1400" b="1" dirty="0"/>
              <a:t>122 ad-driven customers</a:t>
            </a:r>
            <a:r>
              <a:rPr lang="en-US" sz="1400" dirty="0"/>
              <a:t> made only one purchase and never returned, with the highest drop-off among customers who clicked </a:t>
            </a:r>
            <a:r>
              <a:rPr lang="en-US" sz="1400" b="1" dirty="0"/>
              <a:t>2 ads (23)</a:t>
            </a:r>
            <a:r>
              <a:rPr lang="en-US" sz="1400" dirty="0"/>
              <a:t> and </a:t>
            </a:r>
            <a:r>
              <a:rPr lang="en-US" sz="1400" b="1" dirty="0"/>
              <a:t>6 ads (22)</a:t>
            </a:r>
            <a:r>
              <a:rPr lang="en-US" sz="1400" dirty="0"/>
              <a:t> before their first purchase.</a:t>
            </a:r>
          </a:p>
          <a:p>
            <a:pPr algn="ctr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977889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0DE54E67-FEF8-336C-DB22-5386E7CAE5E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95111790"/>
              </p:ext>
            </p:extLst>
          </p:nvPr>
        </p:nvGraphicFramePr>
        <p:xfrm>
          <a:off x="0" y="283192"/>
          <a:ext cx="5234869" cy="38181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618C49D1-6EEF-8B58-2A13-65EB19534DD7}"/>
              </a:ext>
            </a:extLst>
          </p:cNvPr>
          <p:cNvSpPr/>
          <p:nvPr/>
        </p:nvSpPr>
        <p:spPr>
          <a:xfrm>
            <a:off x="5234869" y="3398520"/>
            <a:ext cx="3931920" cy="1617186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 algn="ctr">
              <a:buFont typeface="Wingdings" panose="05000000000000000000" pitchFamily="2" charset="2"/>
              <a:buChar char="§"/>
            </a:pPr>
            <a:r>
              <a:rPr lang="en-US" sz="1400" dirty="0"/>
              <a:t>All three print types — </a:t>
            </a:r>
            <a:r>
              <a:rPr lang="en-US" sz="1400" b="1" dirty="0"/>
              <a:t>Text Print (48.13%), Abstract (49.14%), and Graphic (49.32%)</a:t>
            </a:r>
            <a:r>
              <a:rPr lang="en-US" sz="1400" dirty="0"/>
              <a:t> — fall below the average conversion rate of </a:t>
            </a:r>
            <a:r>
              <a:rPr lang="en-US" sz="1400" b="1" dirty="0"/>
              <a:t>49.5%</a:t>
            </a:r>
            <a:r>
              <a:rPr lang="en-US" sz="1400" dirty="0"/>
              <a:t> despite high ad orders, indicating clear </a:t>
            </a:r>
            <a:r>
              <a:rPr lang="en-US" sz="1400" b="1" dirty="0"/>
              <a:t>ad spend wastage</a:t>
            </a:r>
            <a:r>
              <a:rPr lang="en-US" sz="1400" dirty="0"/>
              <a:t> across all print categories.</a:t>
            </a:r>
          </a:p>
        </p:txBody>
      </p:sp>
    </p:spTree>
    <p:extLst>
      <p:ext uri="{BB962C8B-B14F-4D97-AF65-F5344CB8AC3E}">
        <p14:creationId xmlns:p14="http://schemas.microsoft.com/office/powerpoint/2010/main" val="4219644802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2083</TotalTime>
  <Words>482</Words>
  <Application>Microsoft Office PowerPoint</Application>
  <PresentationFormat>On-screen Show (16:9)</PresentationFormat>
  <Paragraphs>55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Century Gothic</vt:lpstr>
      <vt:lpstr>Trebuchet MS</vt:lpstr>
      <vt:lpstr>Wingdings</vt:lpstr>
      <vt:lpstr>Wingdings 3</vt:lpstr>
      <vt:lpstr>Facet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High Ad Clicks but Low Deliveries Indicate City-Level Ad Inefficiency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 Effectiveness &amp; Wastage Detection</dc:title>
  <dc:subject>PptxGenJS Presentation</dc:subject>
  <dc:creator>PptxGenJS</dc:creator>
  <cp:lastModifiedBy>DELL</cp:lastModifiedBy>
  <cp:revision>10</cp:revision>
  <dcterms:created xsi:type="dcterms:W3CDTF">2026-03-20T10:26:43Z</dcterms:created>
  <dcterms:modified xsi:type="dcterms:W3CDTF">2026-03-28T08:11:30Z</dcterms:modified>
</cp:coreProperties>
</file>